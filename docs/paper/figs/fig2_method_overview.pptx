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1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Causal Attribution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</a:rPr>
              <a:t>Pearl-PNS estimator  +  4-channel Bayesian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6FB8"/>
                </a:solidFill>
              </a:rP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2377440" cy="1463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D6FB8"/>
                </a:solidFill>
              </a:rPr>
              <a:t>Aligned timelines</a:t>
            </a:r>
          </a:p>
          <a:p>
            <a:pPr algn="ctr"/>
            <a:r>
              <a:rPr sz="1200" b="1">
                <a:solidFill>
                  <a:srgbClr val="1D6FB8"/>
                </a:solidFill>
              </a:rPr>
              <a:t>$R(t)$ , $T(t)$</a:t>
            </a:r>
          </a:p>
          <a:p>
            <a:pPr algn="ctr"/>
            <a:r>
              <a:rPr sz="1200" b="1">
                <a:solidFill>
                  <a:srgbClr val="1D6FB8"/>
                </a:solidFill>
              </a:rPr>
              <a:t>5-min Radar buckets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097280"/>
            <a:ext cx="3657600" cy="1828800"/>
          </a:xfrm>
          <a:prstGeom prst="rect">
            <a:avLst/>
          </a:prstGeom>
          <a:solidFill>
            <a:srgbClr val="E0F0FA"/>
          </a:solidFill>
          <a:ln w="254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545"/>
                </a:solidFill>
              </a:rPr>
              <a:t>Pearl-PNS Estimator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</a:rPr>
              <a:t>non-parametric, pre/post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920240"/>
            <a:ext cx="1691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B2545"/>
                </a:solidFill>
              </a:rPr>
              <a:t>PDM(R→T)</a:t>
            </a:r>
          </a:p>
          <a:p>
            <a:pPr algn="ctr"/>
            <a:r>
              <a:rPr sz="1000" b="1">
                <a:solidFill>
                  <a:srgbClr val="0B2545"/>
                </a:solidFill>
              </a:rPr>
              <a:t>$\hat\Delta$ + 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920240"/>
            <a:ext cx="1691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0B2545"/>
                </a:solidFill>
              </a:rPr>
              <a:t>PDM(T→R)</a:t>
            </a:r>
          </a:p>
          <a:p>
            <a:pPr algn="ctr"/>
            <a:r>
              <a:rPr sz="1000" b="1">
                <a:solidFill>
                  <a:srgbClr val="0B2545"/>
                </a:solidFill>
              </a:rPr>
              <a:t>$\hat\Delta$ +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8520"/>
                </a:solidFill>
              </a:rPr>
              <a:t>EVIDENCE 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463040"/>
            <a:ext cx="4572000" cy="1463040"/>
          </a:xfrm>
          <a:prstGeom prst="rect">
            <a:avLst/>
          </a:prstGeom>
          <a:solidFill>
            <a:srgbClr val="FDE9D2"/>
          </a:solidFill>
          <a:ln w="2286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E08520"/>
                </a:solidFill>
              </a:rPr>
              <a:t>MSBD</a:t>
            </a:r>
          </a:p>
          <a:p>
            <a:pPr algn="ctr"/>
            <a:r>
              <a:rPr sz="1000" b="1">
                <a:solidFill>
                  <a:srgbClr val="E08520"/>
                </a:solidFill>
              </a:rPr>
              <a:t>Multi-scale breakpoint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00200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E08520"/>
                </a:solidFill>
              </a:rPr>
              <a:t>CTPR</a:t>
            </a:r>
          </a:p>
          <a:p>
            <a:pPr algn="ctr"/>
            <a:r>
              <a:rPr sz="1000" b="1">
                <a:solidFill>
                  <a:srgbClr val="E08520"/>
                </a:solidFill>
              </a:rPr>
              <a:t>Causal transmission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880360"/>
            <a:ext cx="2103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E08520"/>
                </a:solidFill>
              </a:rPr>
              <a:t>CIC: Cascade impact 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880360"/>
            <a:ext cx="2103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E08520"/>
                </a:solidFill>
              </a:rPr>
              <a:t>TE: Transfer entropy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3017520"/>
            <a:ext cx="6400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0E8A73"/>
                </a:solidFill>
              </a:rPr>
              <a:t>Bayesian Synthesis   (Pearl-PNS anchored)</a:t>
            </a:r>
          </a:p>
          <a:p>
            <a:pPr algn="ctr"/>
            <a:r>
              <a:rPr sz="1100" b="1">
                <a:solidFill>
                  <a:srgbClr val="0E8A73"/>
                </a:solidFill>
              </a:rPr>
              <a:t/>
            </a:r>
          </a:p>
          <a:p>
            <a:pPr algn="ctr"/>
            <a:r>
              <a:rPr sz="1100" b="1">
                <a:solidFill>
                  <a:srgbClr val="0E8A73"/>
                </a:solidFill>
              </a:rPr>
              <a:t>P(cause | evidence)  ∝  P(cause)  ·  ∏ LR(channel)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</a:rPr>
              <a:t>prior anchored on PDM direction  •  disagreeing channels × 0.4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4663440"/>
            <a:ext cx="10972800" cy="1188720"/>
          </a:xfrm>
          <a:prstGeom prst="roundRect">
            <a:avLst/>
          </a:prstGeom>
          <a:solidFill>
            <a:srgbClr val="E8EFF7"/>
          </a:solidFill>
          <a:ln w="25400">
            <a:solidFill>
              <a:srgbClr val="0E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0E8A73"/>
                </a:solidFill>
              </a:rPr>
              <a:t>Final Verdict</a:t>
            </a:r>
          </a:p>
          <a:p>
            <a:pPr algn="ctr"/>
            <a:r>
              <a:rPr sz="1200" b="1">
                <a:solidFill>
                  <a:srgbClr val="0E8A73"/>
                </a:solidFill>
              </a:rPr>
              <a:t>argmax posterior cause  +  95% CI  +  necessity  +  sufficiency  +  permutation 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2194560"/>
            <a:ext cx="365760" cy="0"/>
          </a:xfrm>
          <a:prstGeom prst="line">
            <a:avLst/>
          </a:prstGeom>
          <a:ln w="25400">
            <a:solidFill>
              <a:srgbClr val="1D6F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54880" y="2926080"/>
            <a:ext cx="0" cy="91440"/>
          </a:xfrm>
          <a:prstGeom prst="line">
            <a:avLst/>
          </a:prstGeom>
          <a:ln w="25400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400800" y="2926080"/>
            <a:ext cx="2651760" cy="365760"/>
          </a:xfrm>
          <a:prstGeom prst="line">
            <a:avLst/>
          </a:prstGeom>
          <a:ln w="25400">
            <a:solidFill>
              <a:srgbClr val="E085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83280" y="4389120"/>
            <a:ext cx="0" cy="274320"/>
          </a:xfrm>
          <a:prstGeom prst="line">
            <a:avLst/>
          </a:prstGeom>
          <a:ln w="25400">
            <a:solidFill>
              <a:srgbClr val="0E8A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4389120"/>
            <a:ext cx="0" cy="274320"/>
          </a:xfrm>
          <a:prstGeom prst="line">
            <a:avLst/>
          </a:prstGeom>
          <a:ln w="25400">
            <a:solidFill>
              <a:srgbClr val="0E8A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263640"/>
            <a:ext cx="274320" cy="27432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6263640"/>
            <a:ext cx="274320" cy="274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Pearl-PNS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6263640"/>
            <a:ext cx="274320" cy="274320"/>
          </a:xfrm>
          <a:prstGeom prst="rect">
            <a:avLst/>
          </a:prstGeom>
          <a:solidFill>
            <a:srgbClr val="E0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Channels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6263640"/>
            <a:ext cx="274320" cy="274320"/>
          </a:xfrm>
          <a:prstGeom prst="rect">
            <a:avLst/>
          </a:prstGeom>
          <a:solidFill>
            <a:srgbClr val="0E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