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BGP Tracer — Two-Phase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6FB8"/>
                </a:solidFill>
              </a:rPr>
              <a:t>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1D6FB8"/>
                </a:solidFill>
              </a:rPr>
              <a:t>Cloudflare Radar  (volume)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19456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1D6FB8"/>
                </a:solidFill>
              </a:rPr>
              <a:t>RIPE RIS / RouteViews  (BGP)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24612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1D6FB8"/>
                </a:solidFill>
              </a:rPr>
              <a:t>Public event reports  (Kentik, APNIC)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60120"/>
            <a:ext cx="3657600" cy="4846320"/>
          </a:xfrm>
          <a:prstGeom prst="rect">
            <a:avLst/>
          </a:prstGeom>
          <a:solidFill>
            <a:srgbClr val="E0F0FA"/>
          </a:solidFill>
          <a:ln w="254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051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</a:rPr>
              <a:t>Phase 1 — QUICK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</a:rPr>
              <a:t>deterministic  •  ~60 s  •  0 LLM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920240"/>
            <a:ext cx="338328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0B2545"/>
                </a:solidFill>
              </a:rPr>
              <a:t>Traffic detector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606040"/>
            <a:ext cx="338328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0B2545"/>
                </a:solidFill>
              </a:rPr>
              <a:t>Routing detector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291840"/>
            <a:ext cx="338328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0B2545"/>
                </a:solidFill>
              </a:rPr>
              <a:t>Outage / leak detector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4023360"/>
            <a:ext cx="3383280" cy="594360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000" b="1">
                <a:solidFill>
                  <a:srgbClr val="0B2545"/>
                </a:solidFill>
              </a:rPr>
              <a:t>→ merged timeline cache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4754880"/>
            <a:ext cx="3383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900" b="0">
                <a:solidFill>
                  <a:srgbClr val="0B2545"/>
                </a:solidFill>
              </a:rPr>
              <a:t>27 of 30 events → Phase 2 directly</a:t>
            </a:r>
          </a:p>
          <a:p>
            <a:pPr algn="ctr"/>
            <a:r>
              <a:rPr sz="900" b="0">
                <a:solidFill>
                  <a:srgbClr val="0B2545"/>
                </a:solidFill>
              </a:rPr>
              <a:t>(3 of 30 trigger a re-query)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960120"/>
            <a:ext cx="3657600" cy="4846320"/>
          </a:xfrm>
          <a:prstGeom prst="rect">
            <a:avLst/>
          </a:prstGeom>
          <a:solidFill>
            <a:srgbClr val="FDE9D2"/>
          </a:solidFill>
          <a:ln w="25400">
            <a:solidFill>
              <a:srgbClr val="E08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051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8520"/>
                </a:solidFill>
              </a:rPr>
              <a:t>Phase 2 — DEEP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</a:rPr>
              <a:t>LLM reasoning  •  HTML 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1920240"/>
            <a:ext cx="338328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8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E08520"/>
                </a:solidFill>
              </a:rPr>
              <a:t>Pearl-PNS estimator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2606040"/>
            <a:ext cx="338328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8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E08520"/>
                </a:solidFill>
              </a:rPr>
              <a:t>4 evidence channels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3291840"/>
            <a:ext cx="338328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8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E08520"/>
                </a:solidFill>
              </a:rPr>
              <a:t>Bayesian synthesis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4023360"/>
            <a:ext cx="338328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8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100" b="1">
                <a:solidFill>
                  <a:srgbClr val="E08520"/>
                </a:solidFill>
              </a:rPr>
              <a:t>LLM report agent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4754880"/>
            <a:ext cx="3383280" cy="868680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E08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000" b="0">
                <a:solidFill>
                  <a:srgbClr val="E08520"/>
                </a:solidFill>
              </a:rPr>
              <a:t>→ verdict + 95% CI + p-value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5943600"/>
            <a:ext cx="7498079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E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/>
            <a:r>
              <a:rPr sz="1200" b="1">
                <a:solidFill>
                  <a:srgbClr val="0E8A73"/>
                </a:solidFill>
              </a:rPr>
              <a:t>Operator-facing HTML:  root cause  •  confidence  •  evidence trail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51760" y="1600200"/>
            <a:ext cx="365760" cy="0"/>
          </a:xfrm>
          <a:prstGeom prst="line">
            <a:avLst/>
          </a:prstGeom>
          <a:ln w="25400">
            <a:solidFill>
              <a:srgbClr val="1D6FB8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51760" y="2651760"/>
            <a:ext cx="365760" cy="0"/>
          </a:xfrm>
          <a:prstGeom prst="line">
            <a:avLst/>
          </a:prstGeom>
          <a:ln w="25400">
            <a:solidFill>
              <a:srgbClr val="1D6FB8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51760" y="3703320"/>
            <a:ext cx="365760" cy="0"/>
          </a:xfrm>
          <a:prstGeom prst="line">
            <a:avLst/>
          </a:prstGeom>
          <a:ln w="25400">
            <a:solidFill>
              <a:srgbClr val="1D6FB8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75120" y="2560320"/>
            <a:ext cx="182880" cy="0"/>
          </a:xfrm>
          <a:prstGeom prst="line">
            <a:avLst/>
          </a:prstGeom>
          <a:ln w="25400">
            <a:solidFill>
              <a:srgbClr val="0B2545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86800" y="5623560"/>
            <a:ext cx="0" cy="320040"/>
          </a:xfrm>
          <a:prstGeom prst="line">
            <a:avLst/>
          </a:prstGeom>
          <a:ln w="25400">
            <a:solidFill>
              <a:srgbClr val="E08520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■  Inputs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92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■  Phase 1  (deterministic)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6492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■  Phase 2  (LLM-augmented)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